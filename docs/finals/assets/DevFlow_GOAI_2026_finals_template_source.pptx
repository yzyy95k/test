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947ae11aad418f" /><Relationship Type="http://schemas.openxmlformats.org/officeDocument/2006/relationships/extended-properties" Target="/docProps/app.xml" Id="Rb0d3fd8ff3854dcb" /><Relationship Type="http://schemas.openxmlformats.org/officeDocument/2006/relationships/officeDocument" Target="/ppt/presentation.xml" Id="R172358692c0f4f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e92288a87a4084"/>
  </p:sldMasterIdLst>
  <p:notesMasterIdLst>
    <p:notesMasterId xmlns:r="http://schemas.openxmlformats.org/officeDocument/2006/relationships" r:id="Rd14cf72de041408d"/>
  </p:notesMasterIdLst>
  <p:sldIdLst>
    <p:sldId xmlns:r="http://schemas.openxmlformats.org/officeDocument/2006/relationships" id="256" r:id="R252cdc2bb77e4644"/>
    <p:sldId xmlns:r="http://schemas.openxmlformats.org/officeDocument/2006/relationships" id="257" r:id="R250f690ebd04485f"/>
    <p:sldId xmlns:r="http://schemas.openxmlformats.org/officeDocument/2006/relationships" id="258" r:id="R975b322fa58d4616"/>
    <p:sldId xmlns:r="http://schemas.openxmlformats.org/officeDocument/2006/relationships" id="259" r:id="Ree69912c54374663"/>
    <p:sldId xmlns:r="http://schemas.openxmlformats.org/officeDocument/2006/relationships" id="260" r:id="R8a67b80bca20472c"/>
    <p:sldId xmlns:r="http://schemas.openxmlformats.org/officeDocument/2006/relationships" id="261" r:id="R8821c9d053214083"/>
    <p:sldId xmlns:r="http://schemas.openxmlformats.org/officeDocument/2006/relationships" id="262" r:id="R1237e6b5eed14330"/>
    <p:sldId xmlns:r="http://schemas.openxmlformats.org/officeDocument/2006/relationships" id="263" r:id="R6f47ed2b9ce2433f"/>
    <p:sldId xmlns:r="http://schemas.openxmlformats.org/officeDocument/2006/relationships" id="264" r:id="R6949b9df289d4653"/>
    <p:sldId xmlns:r="http://schemas.openxmlformats.org/officeDocument/2006/relationships" id="265" r:id="R4106e5446b8348d1"/>
    <p:sldId xmlns:r="http://schemas.openxmlformats.org/officeDocument/2006/relationships" id="266" r:id="Ra5cf251476154c67"/>
    <p:sldId xmlns:r="http://schemas.openxmlformats.org/officeDocument/2006/relationships" id="267" r:id="R9a77ca0be9004ea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1304b291c74513" /><Relationship Type="http://schemas.openxmlformats.org/officeDocument/2006/relationships/slideMaster" Target="/ppt/slideMasters/slideMaster1.xml" Id="R56e92288a87a4084" /><Relationship Type="http://schemas.openxmlformats.org/officeDocument/2006/relationships/notesMaster" Target="/ppt/notesMasters/notesMaster1.xml" Id="Rd14cf72de041408d" /><Relationship Type="http://schemas.openxmlformats.org/officeDocument/2006/relationships/presProps" Target="/ppt/presProps.xml" Id="Rdabde7e73ce14509" /><Relationship Type="http://schemas.openxmlformats.org/officeDocument/2006/relationships/tableStyles" Target="/ppt/tableStyles.xml" Id="Rd85ca5421b9c4429" /><Relationship Type="http://schemas.openxmlformats.org/officeDocument/2006/relationships/slide" Target="/ppt/slides/slide1.xml" Id="R252cdc2bb77e4644" /><Relationship Type="http://schemas.openxmlformats.org/officeDocument/2006/relationships/slide" Target="/ppt/slides/slide2.xml" Id="R250f690ebd04485f" /><Relationship Type="http://schemas.openxmlformats.org/officeDocument/2006/relationships/slide" Target="/ppt/slides/slide3.xml" Id="R975b322fa58d4616" /><Relationship Type="http://schemas.openxmlformats.org/officeDocument/2006/relationships/slide" Target="/ppt/slides/slide4.xml" Id="Ree69912c54374663" /><Relationship Type="http://schemas.openxmlformats.org/officeDocument/2006/relationships/slide" Target="/ppt/slides/slide5.xml" Id="R8a67b80bca20472c" /><Relationship Type="http://schemas.openxmlformats.org/officeDocument/2006/relationships/slide" Target="/ppt/slides/slide6.xml" Id="R8821c9d053214083" /><Relationship Type="http://schemas.openxmlformats.org/officeDocument/2006/relationships/slide" Target="/ppt/slides/slide7.xml" Id="R1237e6b5eed14330" /><Relationship Type="http://schemas.openxmlformats.org/officeDocument/2006/relationships/slide" Target="/ppt/slides/slide8.xml" Id="R6f47ed2b9ce2433f" /><Relationship Type="http://schemas.openxmlformats.org/officeDocument/2006/relationships/slide" Target="/ppt/slides/slide9.xml" Id="R6949b9df289d4653" /><Relationship Type="http://schemas.openxmlformats.org/officeDocument/2006/relationships/slide" Target="/ppt/slides/slide10.xml" Id="R4106e5446b8348d1" /><Relationship Type="http://schemas.openxmlformats.org/officeDocument/2006/relationships/slide" Target="/ppt/slides/slide11.xml" Id="Ra5cf251476154c67" /><Relationship Type="http://schemas.openxmlformats.org/officeDocument/2006/relationships/slide" Target="/ppt/slides/slide12.xml" Id="R9a77ca0be9004e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77746e49ad4f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ce4cc262bf4738" /><Relationship Type="http://schemas.openxmlformats.org/officeDocument/2006/relationships/notesMaster" Target="/ppt/notesMasters/notesMaster1.xml" Id="R5fad5e6401f741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a1ed983258142bc" /><Relationship Type="http://schemas.openxmlformats.org/officeDocument/2006/relationships/notesMaster" Target="/ppt/notesMasters/notesMaster1.xml" Id="R0241f6c5e36040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c888489a97470c" /><Relationship Type="http://schemas.openxmlformats.org/officeDocument/2006/relationships/notesMaster" Target="/ppt/notesMasters/notesMaster1.xml" Id="R8bdfcb3236e446b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1ea1b8744d4bbd" /><Relationship Type="http://schemas.openxmlformats.org/officeDocument/2006/relationships/notesMaster" Target="/ppt/notesMasters/notesMaster1.xml" Id="R84d8e431b03e412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56fd1d64e9147fe" /><Relationship Type="http://schemas.openxmlformats.org/officeDocument/2006/relationships/notesMaster" Target="/ppt/notesMasters/notesMaster1.xml" Id="R39e288428c574f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f9b82a209b546c0" /><Relationship Type="http://schemas.openxmlformats.org/officeDocument/2006/relationships/notesMaster" Target="/ppt/notesMasters/notesMaster1.xml" Id="R7901b7188f0d4d7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1773cb957334d7c" /><Relationship Type="http://schemas.openxmlformats.org/officeDocument/2006/relationships/notesMaster" Target="/ppt/notesMasters/notesMaster1.xml" Id="Rad5a0151aa1b44c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b3ba9ae06a844fa" /><Relationship Type="http://schemas.openxmlformats.org/officeDocument/2006/relationships/notesMaster" Target="/ppt/notesMasters/notesMaster1.xml" Id="R46ad4f3134bf440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d88f9b60d59491f" /><Relationship Type="http://schemas.openxmlformats.org/officeDocument/2006/relationships/notesMaster" Target="/ppt/notesMasters/notesMaster1.xml" Id="Rc2c619fae56446b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525c596a2b447eb" /><Relationship Type="http://schemas.openxmlformats.org/officeDocument/2006/relationships/notesMaster" Target="/ppt/notesMasters/notesMaster1.xml" Id="Rbeb16ed11c1c4ba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189e8dd94d94584" /><Relationship Type="http://schemas.openxmlformats.org/officeDocument/2006/relationships/notesMaster" Target="/ppt/notesMasters/notesMaster1.xml" Id="Re1c0e3e5d52a4ac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20307342c3b4f31" /><Relationship Type="http://schemas.openxmlformats.org/officeDocument/2006/relationships/notesMaster" Target="/ppt/notesMasters/notesMaster1.xml" Id="R5c334530d91b4f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https://www.goaihz.com/tracks（Agent Infra 赛道；2026-07-27 核对）</a:t>
            </a:r>
          </a:p>
          <a:p xmlns:a="http://schemas.openxmlformats.org/drawingml/2006/main">
            <a:r>
              <a:t>- docs/submission/INTRO_500_CN.md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https://www.goaihz.com/tracks（赛道定位与软件研发全流程协同方向）</a:t>
            </a:r>
          </a:p>
          <a:p xmlns:a="http://schemas.openxmlformats.org/drawingml/2006/main">
            <a:r>
              <a:t>- docs/SCORECARD.md:7-20, 39-49</a:t>
            </a:r>
          </a:p>
          <a:p xmlns:a="http://schemas.openxmlformats.org/drawingml/2006/main">
            <a:r>
              <a:t>- docs/submission/INTRO_500_CN.md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https://www.goaihz.com/tracks（至少 3 个不同职能 Agent、清晰 Identity）</a:t>
            </a:r>
          </a:p>
          <a:p xmlns:a="http://schemas.openxmlformats.org/drawingml/2006/main">
            <a:r>
              <a:t>- docs/submission/AGENT_IDENTITY_APPENDIX.md:5-16, 45-48</a:t>
            </a:r>
          </a:p>
          <a:p xmlns:a="http://schemas.openxmlformats.org/drawingml/2006/main">
            <a:r>
              <a:t>- docs/AGENTTEAMS.md:7-18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docs/submission/AGENT_IDENTITY_APPENDIX.md:18-36</a:t>
            </a:r>
          </a:p>
          <a:p xmlns:a="http://schemas.openxmlformats.org/drawingml/2006/main">
            <a:r>
              <a:t>- docs/AGENTTEAMS.md:73-78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docs/AGENTTEAMS.md:98-107</a:t>
            </a:r>
          </a:p>
          <a:p xmlns:a="http://schemas.openxmlformats.org/drawingml/2006/main">
            <a:r>
              <a:t>- docs/submission/AGENT_IDENTITY_APPENDIX.md:18-28</a:t>
            </a:r>
          </a:p>
          <a:p xmlns:a="http://schemas.openxmlformats.org/drawingml/2006/main">
            <a:r>
              <a:t>- docs/evidence/AGENTTEAMS_LIVE_20260727.md:60-92（仅两节点实证）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https://www.goaihz.com/tracks（MCP 工具集成、Higress 推荐及权限边界要求）</a:t>
            </a:r>
          </a:p>
          <a:p xmlns:a="http://schemas.openxmlformats.org/drawingml/2006/main">
            <a:r>
              <a:t>- docs/AGENTTEAMS.md:59-78</a:t>
            </a:r>
          </a:p>
          <a:p xmlns:a="http://schemas.openxmlformats.org/drawingml/2006/main">
            <a:r>
              <a:t>- docs/evidence/AGENTTEAMS_LIVE_20260727.md:119-156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https://www.goaihz.com/tracks（Skill 必选及九项工程说明要求）</a:t>
            </a:r>
          </a:p>
          <a:p xmlns:a="http://schemas.openxmlformats.org/drawingml/2006/main">
            <a:r>
              <a:t>- docs/submission/AGENT_IDENTITY_APPENDIX.md:5-12</a:t>
            </a:r>
          </a:p>
          <a:p xmlns:a="http://schemas.openxmlformats.org/drawingml/2006/main">
            <a:r>
              <a:t>- docs/evidence/AGENTTEAMS_LIVE_20260727.md:158-164</a:t>
            </a:r>
          </a:p>
          <a:p xmlns:a="http://schemas.openxmlformats.org/drawingml/2006/main">
            <a:r>
              <a:t>- docs/submission/DEFENSE_QA_CN.md:87-91（GLM 成对行为评测只覆盖较早 6 个 Skill）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docs/evidence/AGENTTEAMS_LIVE_20260727.md:8-18, 34-37, 60-93, 119-164</a:t>
            </a:r>
          </a:p>
          <a:p xmlns:a="http://schemas.openxmlformats.org/drawingml/2006/main">
            <a:r>
              <a:t>- docs/SCORECARD.md:22-37（证据成熟度限制）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docs/evidence/AGENTTEAMS_LIVE_20260727.md:20-58, 60-93, 119-164</a:t>
            </a:r>
          </a:p>
          <a:p xmlns:a="http://schemas.openxmlformats.org/drawingml/2006/main">
            <a:r>
              <a:t>- docs/SCORECARD.md:39-55</a:t>
            </a:r>
          </a:p>
          <a:p xmlns:a="http://schemas.openxmlformats.org/drawingml/2006/main">
            <a:r>
              <a:t>- docs/submission/LIVE_DEMO_SCRIPT_CN.md:14-65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https://www.goaihz.com/tracks（评审关注：25% / 25% / 25% / 20% / 5%）</a:t>
            </a:r>
          </a:p>
          <a:p xmlns:a="http://schemas.openxmlformats.org/drawingml/2006/main">
            <a:r>
              <a:t>- docs/SCORECARD.md:7-20</a:t>
            </a:r>
          </a:p>
          <a:p xmlns:a="http://schemas.openxmlformats.org/drawingml/2006/main">
            <a:r>
              <a:t>- docs/submission/PRELIM_SUBMISSION_CHECKLIST_CN.md:20-38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docs/SCORECARD.md:22-37, 56-61</a:t>
            </a:r>
          </a:p>
          <a:p xmlns:a="http://schemas.openxmlformats.org/drawingml/2006/main">
            <a:r>
              <a:t>- docs/evidence/AGENTTEAMS_LIVE_20260727.md:153-169</a:t>
            </a:r>
          </a:p>
          <a:p xmlns:a="http://schemas.openxmlformats.org/drawingml/2006/main">
            <a:r>
              <a:t>- docs/submission/PRELIM_SUBMISSION_CHECKLIST_CN.md:46-80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https://www.goaihz.com/tracks（端到端、可运行、可验证、可审计要求）</a:t>
            </a:r>
          </a:p>
          <a:p xmlns:a="http://schemas.openxmlformats.org/drawingml/2006/main">
            <a:r>
              <a:t>- docs/SCORECARD.md</a:t>
            </a:r>
          </a:p>
          <a:p xmlns:a="http://schemas.openxmlformats.org/drawingml/2006/main">
            <a:r>
              <a:t>- docs/evidence/AGENTTEAMS_LIVE_20260727.md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daa9d0dbd44d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468f8cda9f4ddd" /><Relationship Type="http://schemas.openxmlformats.org/officeDocument/2006/relationships/slideLayout" Target="/ppt/slideLayouts/slideLayout1.xml" Id="Rb991c96c08c64f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91c96c08c64f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482b6999464e37" /><Relationship Type="http://schemas.openxmlformats.org/officeDocument/2006/relationships/notesSlide" Target="/ppt/notesSlides/notesSlide1.xml" Id="Rfb4afaed4b1249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375dbe52fc403a" /><Relationship Type="http://schemas.openxmlformats.org/officeDocument/2006/relationships/notesSlide" Target="/ppt/notesSlides/notesSlide2.xml" Id="R4eada730a14042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243cca94674d8b" /><Relationship Type="http://schemas.openxmlformats.org/officeDocument/2006/relationships/notesSlide" Target="/ppt/notesSlides/notesSlide3.xml" Id="Rf934e325d8b44b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471fadff39496c" /><Relationship Type="http://schemas.openxmlformats.org/officeDocument/2006/relationships/notesSlide" Target="/ppt/notesSlides/notesSlide4.xml" Id="Rbc622753e08b4ab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c39700c1df43c8" /><Relationship Type="http://schemas.openxmlformats.org/officeDocument/2006/relationships/notesSlide" Target="/ppt/notesSlides/notesSlide5.xml" Id="Rd8c2bf5f57e64ea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4df59169824877" /><Relationship Type="http://schemas.openxmlformats.org/officeDocument/2006/relationships/notesSlide" Target="/ppt/notesSlides/notesSlide6.xml" Id="R3a2dabfb3dcb4e8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a505c87f324c90" /><Relationship Type="http://schemas.openxmlformats.org/officeDocument/2006/relationships/notesSlide" Target="/ppt/notesSlides/notesSlide7.xml" Id="Rd7d719d8ff1a42c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f34ccc23f14a86" /><Relationship Type="http://schemas.openxmlformats.org/officeDocument/2006/relationships/notesSlide" Target="/ppt/notesSlides/notesSlide8.xml" Id="R09672d70a430466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e9605f51a44740" /><Relationship Type="http://schemas.openxmlformats.org/officeDocument/2006/relationships/notesSlide" Target="/ppt/notesSlides/notesSlide9.xml" Id="Rf7af76add5bf486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eaae1e02154801" /><Relationship Type="http://schemas.openxmlformats.org/officeDocument/2006/relationships/notesSlide" Target="/ppt/notesSlides/notesSlide10.xml" Id="R341ed7c7ceae46e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97e733e36b45fb" /><Relationship Type="http://schemas.openxmlformats.org/officeDocument/2006/relationships/notesSlide" Target="/ppt/notesSlides/notesSlide11.xml" Id="R153a353d455149e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173836762f4700" /><Relationship Type="http://schemas.openxmlformats.org/officeDocument/2006/relationships/notesSlide" Target="/ppt/notesSlides/notesSlide12.xml" Id="R103f7095e5694bb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E7977AB1-D46D-4426-A545-F7AC4D5C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DevFlow
边界驱动的多 Agent 研发闭环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DECD7AC4-D147-4350-8393-4C4DF5D5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以 AgentTeams 为协同基点｜职责清晰、交接可验、工具默认拒绝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A924D992-FE5A-4C85-94BE-EB4FAC9D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GOAI 2026 · AGENT INFRA</a:t>
            </a:r>
          </a:p>
        </p:txBody>
      </p:sp>
    </p:spTree>
    <p:extLst>
      <p:ext uri="{BB962C8B-B14F-4D97-AF65-F5344CB8AC3E}">
        <p14:creationId xmlns:p14="http://schemas.microsoft.com/office/powerpoint/2010/main" val="170630960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0CD2D93B-6880-4CB2-9699-9996D035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65F8946F-6153-4730-BE47-4A92E42B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6431E771-D68B-42EC-AB6C-E5AEA27B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C97FA948-CBAC-49F5-9D21-39B28FD8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1CA03489-10D0-4BBB-852C-FECEA05F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复杂研发问题，失败往往发生在协作边界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21353950-576E-41A0-AF96-CACB3B6D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专职角色
职责不漂移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C00DEB2C-5701-4F66-A7A4-99E88BF6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路由 / 边界基准
不是补丁解决率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C550AD96-226B-4383-BAB7-2FBA60E3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可复用 Skill
输入输出可验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5242F37B-F9EA-42CC-92AD-39CE18A8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6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C5920F6D-D990-4907-A31F-7D29990C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7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7ABA27E8-97CF-4B3A-9F9E-70580421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24 项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3551982D-0C8C-494E-B2EA-F27EFFCF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3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场景与价值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同一 Issue 在分类、定位、修改、测试、审查之间流转。身份、证据与权限一旦混在聊天里，结果就难复验；DevFlow 把每次协作收敛为可验证合同。</a:t>
            </a:r>
          </a:p>
        </p:txBody>
      </p:sp>
    </p:spTree>
    <p:extLst>
      <p:ext uri="{BB962C8B-B14F-4D97-AF65-F5344CB8AC3E}">
        <p14:creationId xmlns:p14="http://schemas.microsoft.com/office/powerpoint/2010/main" val="38257665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9D9753F6-4DE8-4497-AE50-AA645A7E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B162844B-FC88-4DA6-B58C-3C35B019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六角色不是角色扮演：每个身份只有一个可追责出口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03B51AE8-809A-4456-A850-68887B6B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Tester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9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一次性副本验证；只运行服务器预注册 CI 动作。</a:t>
            </a:r>
          </a:p>
        </p:txBody>
      </p:sp>
      <p:sp>
        <p:nvSpPr>
          <p:cNvPr id="4" name="Text-Placeholder-16-5">
            <a:extLst xmlns:a="http://schemas.openxmlformats.org/drawingml/2006/main">
              <a:ext uri="{FF2B5EF4-FFF2-40B4-BE49-F238E27FC236}">
                <a16:creationId xmlns:a16="http://schemas.microsoft.com/office/drawing/2014/main" id="{0E890EA1-F710-48E9-A22E-0D8FAF4F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Reviewer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9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独立审查与经验提炼；不合并、不部署、无 GitHub 写能力。</a:t>
            </a:r>
          </a:p>
        </p:txBody>
      </p:sp>
      <p:sp>
        <p:nvSpPr>
          <p:cNvPr id="5" name="Content-Placeholder-17-6">
            <a:extLst xmlns:a="http://schemas.openxmlformats.org/drawingml/2006/main">
              <a:ext uri="{FF2B5EF4-FFF2-40B4-BE49-F238E27FC236}">
                <a16:creationId xmlns:a16="http://schemas.microsoft.com/office/drawing/2014/main" id="{FA2655AF-6787-4FE5-88D8-A7F22E2B1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HumanReviewer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9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系统外部授权主体；只批准 T4/T5，不计入六个 Agent。</a:t>
            </a:r>
          </a:p>
        </p:txBody>
      </p:sp>
      <p:sp>
        <p:nvSpPr>
          <p:cNvPr id="6" name="Text-Placeholder-18-7">
            <a:extLst xmlns:a="http://schemas.openxmlformats.org/drawingml/2006/main">
              <a:ext uri="{FF2B5EF4-FFF2-40B4-BE49-F238E27FC236}">
                <a16:creationId xmlns:a16="http://schemas.microsoft.com/office/drawing/2014/main" id="{69DCB1F7-7EF8-45E6-8358-57AC7B1C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冲突优先级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9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安全 &gt; 人工策略 &gt; 测试证据 &gt; 审查 &gt; Coder 自检。</a:t>
            </a:r>
          </a:p>
        </p:txBody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95A670AB-94BE-4071-9167-794FF8DB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TeamLeader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9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拆解 DAG、跟踪状态、冲突仲裁、失败重排；不写代码、不跑测试。</a:t>
            </a:r>
          </a:p>
        </p:txBody>
      </p:sp>
      <p:sp>
        <p:nvSpPr>
          <p:cNvPr id="8" name="Text-Placeholder-16-9">
            <a:extLst xmlns:a="http://schemas.openxmlformats.org/drawingml/2006/main">
              <a:ext uri="{FF2B5EF4-FFF2-40B4-BE49-F238E27FC236}">
                <a16:creationId xmlns:a16="http://schemas.microsoft.com/office/drawing/2014/main" id="{CB9D4658-7A41-4F94-8C80-5CF5D139E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Triage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9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issue-classifier → ClassifiedIssue；不读写仓库。</a:t>
            </a:r>
          </a:p>
        </p:txBody>
      </p:sp>
      <p:sp>
        <p:nvSpPr>
          <p:cNvPr id="9" name="Content-Placeholder-17-10">
            <a:extLst xmlns:a="http://schemas.openxmlformats.org/drawingml/2006/main">
              <a:ext uri="{FF2B5EF4-FFF2-40B4-BE49-F238E27FC236}">
                <a16:creationId xmlns:a16="http://schemas.microsoft.com/office/drawing/2014/main" id="{CF48A09A-D6B1-4F8A-A40D-DFBE3447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Locator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9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固定 revision 只读定位；不得修改、执行或扩大路径范围。</a:t>
            </a:r>
          </a:p>
        </p:txBody>
      </p:sp>
      <p:sp>
        <p:nvSpPr>
          <p:cNvPr id="10" name="Text-Placeholder-18-11">
            <a:extLst xmlns:a="http://schemas.openxmlformats.org/drawingml/2006/main">
              <a:ext uri="{FF2B5EF4-FFF2-40B4-BE49-F238E27FC236}">
                <a16:creationId xmlns:a16="http://schemas.microsoft.com/office/drawing/2014/main" id="{2908D25A-75E8-496A-909E-58682788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Coder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9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仅产最小补丁候选；不测试、不推送、不合并。</a:t>
            </a:r>
          </a:p>
        </p:txBody>
      </p:sp>
    </p:spTree>
    <p:extLst>
      <p:ext uri="{BB962C8B-B14F-4D97-AF65-F5344CB8AC3E}">
        <p14:creationId xmlns:p14="http://schemas.microsoft.com/office/powerpoint/2010/main" val="11466033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226A0C1A-A835-4A74-B0F0-B7AB326F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467149DA-ACC6-477F-9A60-CC06D3FC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身份可执行，</a:t>
            </a:r>
            <a:r>
              <a:rPr sz="29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交接可校验</a:t>
            </a:r>
            <a:r>
              <a:rPr sz="29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
房间消息只做协作，不做授权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7EAC34C3-7AB7-42B7-9AA1-4B093D55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01｜我是谁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进程身份 + Worker 角色 + Skill owner。
提示词里的“我是 Leader”不能改变进程身份。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FCAF8DA6-2E3F-46C2-BDDE-EFF010A4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03｜我能做什么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身份 ∩ Skill ∩ MCP ∩ 参数 ∩ 上下文 ∩ 人工批准。任一未知、错配或过期，默认拒绝。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9F359CCA-F5BC-4F79-8190-03F94FFE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02｜我拿到什么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HandoffEnvelope 绑定 producer / consumer / task / Skill / payload type / SHA-256 / trace / idempotency。</a:t>
            </a:r>
          </a:p>
        </p:txBody>
      </p:sp>
    </p:spTree>
    <p:extLst>
      <p:ext uri="{BB962C8B-B14F-4D97-AF65-F5344CB8AC3E}">
        <p14:creationId xmlns:p14="http://schemas.microsoft.com/office/powerpoint/2010/main" val="168698442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2BC5D3C6-E54B-4BFF-A59A-D358105F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B0818C4A-63A5-4A09-BC1C-92C20525D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TeamHarness 将“协作”约束成有状态协议</a:t>
            </a:r>
          </a:p>
        </p:txBody>
      </p:sp>
      <p:cxnSp>
        <p:nvCxnSpPr>
          <p:cNvPr id="30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0472A5B8-E7DF-4C2E-867E-158F9FF5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8E82C51D-57CA-4476-B805-4AB90DC8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C460C321-EF94-4A35-9F0C-80DE273A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0E9CA147-DDD6-439D-9FCA-33FE98DD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ASSIGN / ACK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41FCDFE2-B582-43D2-ABFE-0763254F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SUBMIT / ACCEPT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85D7A9E8-E6D8-46A8-823F-9D45FBE4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REPORT / READBACK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B7BEC2F5-C608-4AFA-99CD-B69D073C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摘要不漂移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同 assignment 重试必须保持同一摘要；不同摘要直接冲突失败。</a:t>
            </a:r>
            <a:r>
              <a:rPr sz="135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红测经 Leader 转发脱敏、有界证据。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9E76C19B-03CD-47FD-A4B2-3E7E44A64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风险先冻结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Leader 固定 T1–T5；有界 assignment。Worker 只对自己的任务幂等 ACK。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8EEEA36A-29B1-42F5-A27C-1E213B39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完成要读回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mark → push → pending=false。T4/T5 设计要求外部 Ed25519 批准；真人闭环尚待实证。</a:t>
            </a:r>
          </a:p>
        </p:txBody>
      </p:sp>
    </p:spTree>
    <p:extLst>
      <p:ext uri="{BB962C8B-B14F-4D97-AF65-F5344CB8AC3E}">
        <p14:creationId xmlns:p14="http://schemas.microsoft.com/office/powerpoint/2010/main" val="78204200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F6AFBF58-232D-4902-BE70-A886B212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E6E54F2A-7347-4873-898A-DB909348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GitHub 只读能力：请求必须穿过五道边界</a:t>
            </a:r>
          </a:p>
        </p:txBody>
      </p:sp>
      <p:graphicFrame>
        <p:nvGraphicFramePr>
          <p:cNvPr id="20" name="Google-Shape-953-p80-4"/>
          <p:cNvGraphicFramePr/>
          <p:nvPr/>
        </p:nvGraphicFramePr>
        <p:xfrm>
          <a:off xmlns:a="http://schemas.openxmlformats.org/drawingml/2006/main" x="393668" y="1379887"/>
          <a:ext xmlns:a="http://schemas.openxmlformats.org/drawingml/2006/main" cx="11404664" cy="461448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0952"/>
                <a:gridCol w="2280952"/>
                <a:gridCol w="2280952"/>
                <a:gridCol w="2280952"/>
                <a:gridCol w="2280952"/>
              </a:tblGrid>
              <a:tr h="4614482">
                <a:tc>
                  <a:txBody>
                    <a:bodyPr/>
                    <a:lstStyle/>
                    <a:p>
                      <a:r>
                        <a:t>任务上下文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短期能力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Higress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Scope Broker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GitHub API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Google-Shape-955-p80-5">
            <a:extLst xmlns:a="http://schemas.openxmlformats.org/drawingml/2006/main">
              <a:ext uri="{FF2B5EF4-FFF2-40B4-BE49-F238E27FC236}">
                <a16:creationId xmlns:a16="http://schemas.microsoft.com/office/drawing/2014/main" id="{E0536D66-DBC7-4F2D-B9E2-C042703F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1733" y="4107752"/>
            <a:ext cx="4562666" cy="513302"/>
          </a:xfrm>
          <a:prstGeom xmlns:a="http://schemas.openxmlformats.org/drawingml/2006/main" prst="roundRect">
            <a:avLst>
              <a:gd name="adj" fmla="val 1484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Google-Shape-955-p80-5">
            <a:extLst xmlns:a="http://schemas.openxmlformats.org/drawingml/2006/main">
              <a:ext uri="{FF2B5EF4-FFF2-40B4-BE49-F238E27FC236}">
                <a16:creationId xmlns:a16="http://schemas.microsoft.com/office/drawing/2014/main" id="{F490E13A-7847-495E-8CB1-6DA8A4FD8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1733" y="4107752"/>
            <a:ext cx="4562666" cy="5133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210312" tIns="121920" rIns="121920" bIns="1219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Broker：复核能力签名、Agent + Skill 与精确 scope</a:t>
            </a:r>
          </a:p>
        </p:txBody>
      </p:sp>
      <p:sp>
        <p:nvSpPr>
          <p:cNvPr id="6" name="Google-Shape-957-p80-6">
            <a:extLst xmlns:a="http://schemas.openxmlformats.org/drawingml/2006/main">
              <a:ext uri="{FF2B5EF4-FFF2-40B4-BE49-F238E27FC236}">
                <a16:creationId xmlns:a16="http://schemas.microsoft.com/office/drawing/2014/main" id="{8CD5EEB9-0968-49AE-AC72-4CA19EA6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073" y="5478399"/>
            <a:ext cx="11026712" cy="513302"/>
          </a:xfrm>
          <a:prstGeom xmlns:a="http://schemas.openxmlformats.org/drawingml/2006/main" prst="roundRect">
            <a:avLst>
              <a:gd name="adj" fmla="val 1484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Google-Shape-957-p80-6">
            <a:extLst xmlns:a="http://schemas.openxmlformats.org/drawingml/2006/main">
              <a:ext uri="{FF2B5EF4-FFF2-40B4-BE49-F238E27FC236}">
                <a16:creationId xmlns:a16="http://schemas.microsoft.com/office/drawing/2014/main" id="{D06D96BA-5D90-4780-A9AE-1EA5280A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073" y="5478399"/>
            <a:ext cx="11026712" cy="5133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210312" tIns="121920" rIns="121920" bIns="1219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默认拒绝：错路径 403｜Reviewer 403｜Locator 直连 Broker 被阻断</a:t>
            </a:r>
          </a:p>
        </p:txBody>
      </p:sp>
      <p:sp>
        <p:nvSpPr>
          <p:cNvPr id="8" name="Google-Shape-960-p80-7">
            <a:extLst xmlns:a="http://schemas.openxmlformats.org/drawingml/2006/main">
              <a:ext uri="{FF2B5EF4-FFF2-40B4-BE49-F238E27FC236}">
                <a16:creationId xmlns:a16="http://schemas.microsoft.com/office/drawing/2014/main" id="{3FD3D03B-7904-4BB9-BA6B-4D39FCFEA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2750" y="4754975"/>
            <a:ext cx="4088035" cy="513302"/>
          </a:xfrm>
          <a:prstGeom xmlns:a="http://schemas.openxmlformats.org/drawingml/2006/main" prst="roundRect">
            <a:avLst>
              <a:gd name="adj" fmla="val 1484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9" name="Google-Shape-960-p80-7">
            <a:extLst xmlns:a="http://schemas.openxmlformats.org/drawingml/2006/main">
              <a:ext uri="{FF2B5EF4-FFF2-40B4-BE49-F238E27FC236}">
                <a16:creationId xmlns:a16="http://schemas.microsoft.com/office/drawing/2014/main" id="{405ABF8D-7389-4E3D-935B-A33BDEBA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2750" y="4754975"/>
            <a:ext cx="4088035" cy="5133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210312" tIns="121920" rIns="121920" bIns="1219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回执：Git object + content digest，可独立重算</a:t>
            </a:r>
          </a:p>
        </p:txBody>
      </p:sp>
      <p:sp>
        <p:nvSpPr>
          <p:cNvPr id="10" name="Google-Shape-963-p80-8">
            <a:extLst xmlns:a="http://schemas.openxmlformats.org/drawingml/2006/main">
              <a:ext uri="{FF2B5EF4-FFF2-40B4-BE49-F238E27FC236}">
                <a16:creationId xmlns:a16="http://schemas.microsoft.com/office/drawing/2014/main" id="{096A0BDC-AFFB-4BE4-AA4F-36D0E61BA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972" y="3403187"/>
            <a:ext cx="8790813" cy="513302"/>
          </a:xfrm>
          <a:prstGeom xmlns:a="http://schemas.openxmlformats.org/drawingml/2006/main" prst="roundRect">
            <a:avLst>
              <a:gd name="adj" fmla="val 1484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1" name="Google-Shape-963-p80-8">
            <a:extLst xmlns:a="http://schemas.openxmlformats.org/drawingml/2006/main">
              <a:ext uri="{FF2B5EF4-FFF2-40B4-BE49-F238E27FC236}">
                <a16:creationId xmlns:a16="http://schemas.microsoft.com/office/drawing/2014/main" id="{08A94ABB-CE32-4B79-8ED3-072784D94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972" y="3403187"/>
            <a:ext cx="8790813" cy="5133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210312" tIns="121920" rIns="121920" bIns="1219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Higress：Consumer=Locator；Wasm FAIL_CLOSE</a:t>
            </a:r>
          </a:p>
        </p:txBody>
      </p:sp>
      <p:sp>
        <p:nvSpPr>
          <p:cNvPr id="12" name="Google-Shape-966-p80-9">
            <a:extLst xmlns:a="http://schemas.openxmlformats.org/drawingml/2006/main">
              <a:ext uri="{FF2B5EF4-FFF2-40B4-BE49-F238E27FC236}">
                <a16:creationId xmlns:a16="http://schemas.microsoft.com/office/drawing/2014/main" id="{DDF743E4-F130-4846-B540-3B2A0535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972" y="2698528"/>
            <a:ext cx="6408515" cy="513302"/>
          </a:xfrm>
          <a:prstGeom xmlns:a="http://schemas.openxmlformats.org/drawingml/2006/main" prst="roundRect">
            <a:avLst>
              <a:gd name="adj" fmla="val 1484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3" name="Google-Shape-966-p80-9">
            <a:extLst xmlns:a="http://schemas.openxmlformats.org/drawingml/2006/main">
              <a:ext uri="{FF2B5EF4-FFF2-40B4-BE49-F238E27FC236}">
                <a16:creationId xmlns:a16="http://schemas.microsoft.com/office/drawing/2014/main" id="{D4649ED6-A409-4ABD-838F-4705C1BE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972" y="2698528"/>
            <a:ext cx="6408515" cy="5133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210312" tIns="121920" rIns="121920" bIns="1219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Locator：仅 github-evidence，可读不可写</a:t>
            </a:r>
          </a:p>
        </p:txBody>
      </p:sp>
      <p:sp>
        <p:nvSpPr>
          <p:cNvPr id="14" name="Google-Shape-969-p80-10">
            <a:extLst xmlns:a="http://schemas.openxmlformats.org/drawingml/2006/main">
              <a:ext uri="{FF2B5EF4-FFF2-40B4-BE49-F238E27FC236}">
                <a16:creationId xmlns:a16="http://schemas.microsoft.com/office/drawing/2014/main" id="{8814C14B-0288-4B72-93C8-010B3D7E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873" y="1975104"/>
            <a:ext cx="4185190" cy="513302"/>
          </a:xfrm>
          <a:prstGeom xmlns:a="http://schemas.openxmlformats.org/drawingml/2006/main" prst="roundRect">
            <a:avLst>
              <a:gd name="adj" fmla="val 1484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5" name="Google-Shape-969-p80-10">
            <a:extLst xmlns:a="http://schemas.openxmlformats.org/drawingml/2006/main">
              <a:ext uri="{FF2B5EF4-FFF2-40B4-BE49-F238E27FC236}">
                <a16:creationId xmlns:a16="http://schemas.microsoft.com/office/drawing/2014/main" id="{F42A855F-68BA-49E6-B29B-ECE9E4E1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873" y="1975104"/>
            <a:ext cx="4185190" cy="5133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210312" tIns="121920" rIns="121920" bIns="1219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Leader：签发固定 repo / revision / path</a:t>
            </a:r>
          </a:p>
        </p:txBody>
      </p:sp>
    </p:spTree>
    <p:extLst>
      <p:ext uri="{BB962C8B-B14F-4D97-AF65-F5344CB8AC3E}">
        <p14:creationId xmlns:p14="http://schemas.microsoft.com/office/powerpoint/2010/main" val="195935398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23CB663D-6CD9-41DA-9E2B-A87EAFC7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07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61271C85-A550-495D-B2C7-E8AF5204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七个 Skill 的工程标准：可调用、可拒绝、可验证、可复用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A12FB0EC-674B-44BF-878E-C0A755F1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test-runner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9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Tester｜隔离副本、基线与回归 → TestEvidence</a:t>
            </a:r>
          </a:p>
        </p:txBody>
      </p:sp>
      <p:sp>
        <p:nvSpPr>
          <p:cNvPr id="4" name="Text-Placeholder-16-5">
            <a:extLst xmlns:a="http://schemas.openxmlformats.org/drawingml/2006/main">
              <a:ext uri="{FF2B5EF4-FFF2-40B4-BE49-F238E27FC236}">
                <a16:creationId xmlns:a16="http://schemas.microsoft.com/office/drawing/2014/main" id="{B3B7848D-2A3A-4515-8A01-F9EA060A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pr-reviewer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9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Reviewer｜正确性、安全性与是否可进入人工门</a:t>
            </a:r>
          </a:p>
        </p:txBody>
      </p:sp>
      <p:sp>
        <p:nvSpPr>
          <p:cNvPr id="5" name="Content-Placeholder-17-6">
            <a:extLst xmlns:a="http://schemas.openxmlformats.org/drawingml/2006/main">
              <a:ext uri="{FF2B5EF4-FFF2-40B4-BE49-F238E27FC236}">
                <a16:creationId xmlns:a16="http://schemas.microsoft.com/office/drawing/2014/main" id="{D790A5CC-2B68-4DFE-AA05-54912F43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experience-distiller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9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Reviewer｜脱敏复盘 → 可复用经验</a:t>
            </a:r>
          </a:p>
        </p:txBody>
      </p:sp>
      <p:sp>
        <p:nvSpPr>
          <p:cNvPr id="6" name="Text-Placeholder-18-7">
            <a:extLst xmlns:a="http://schemas.openxmlformats.org/drawingml/2006/main">
              <a:ext uri="{FF2B5EF4-FFF2-40B4-BE49-F238E27FC236}">
                <a16:creationId xmlns:a16="http://schemas.microsoft.com/office/drawing/2014/main" id="{0FF75768-6743-4067-84E7-AA7E7E26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统一质量门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9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输入输出、触发拒绝、依赖失败、角色归属、安全验证、版本；7/7 静态 100/100。</a:t>
            </a:r>
          </a:p>
        </p:txBody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781AACD0-50BB-4069-9F12-126475E2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issue-classifier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9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Triage｜分级、去重、优先级 → ClassifiedIssue</a:t>
            </a:r>
          </a:p>
        </p:txBody>
      </p:sp>
      <p:sp>
        <p:nvSpPr>
          <p:cNvPr id="8" name="Text-Placeholder-16-9">
            <a:extLst xmlns:a="http://schemas.openxmlformats.org/drawingml/2006/main">
              <a:ext uri="{FF2B5EF4-FFF2-40B4-BE49-F238E27FC236}">
                <a16:creationId xmlns:a16="http://schemas.microsoft.com/office/drawing/2014/main" id="{0EB271C2-CA0B-4049-B586-200124DC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code-root-cause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9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Locator｜固定 revision 根因与影响面 → LocatedContext</a:t>
            </a:r>
          </a:p>
        </p:txBody>
      </p:sp>
      <p:sp>
        <p:nvSpPr>
          <p:cNvPr id="9" name="Content-Placeholder-17-10">
            <a:extLst xmlns:a="http://schemas.openxmlformats.org/drawingml/2006/main">
              <a:ext uri="{FF2B5EF4-FFF2-40B4-BE49-F238E27FC236}">
                <a16:creationId xmlns:a16="http://schemas.microsoft.com/office/drawing/2014/main" id="{7A579CC1-DB85-45C1-A9CB-58143899B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github-evidence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9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Locator｜固定 repo / revision / path 的只读证据</a:t>
            </a:r>
          </a:p>
        </p:txBody>
      </p:sp>
      <p:sp>
        <p:nvSpPr>
          <p:cNvPr id="10" name="Text-Placeholder-18-11">
            <a:extLst xmlns:a="http://schemas.openxmlformats.org/drawingml/2006/main">
              <a:ext uri="{FF2B5EF4-FFF2-40B4-BE49-F238E27FC236}">
                <a16:creationId xmlns:a16="http://schemas.microsoft.com/office/drawing/2014/main" id="{6108238F-2377-45F1-A5B8-DE8A5FE6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patch-generator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9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Coder｜最小候选修复 → PatchCandidate</a:t>
            </a:r>
          </a:p>
        </p:txBody>
      </p:sp>
    </p:spTree>
    <p:extLst>
      <p:ext uri="{BB962C8B-B14F-4D97-AF65-F5344CB8AC3E}">
        <p14:creationId xmlns:p14="http://schemas.microsoft.com/office/powerpoint/2010/main" val="165158667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C50C5669-56D6-491D-BA83-5757F2A4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CDD38278-FBEC-4465-9C82-FC256999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7BB10D92-F0D3-4294-9EEE-01B1508F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A50D6DA4-B791-44A0-AF54-CA6D864C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08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C095FB3D-BCAF-4F1E-B123-6D7BB6AC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真实环境已验证的不是“会说”，而是状态与拒绝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40753CAB-BB6A-49DB-96B6-16D033B4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Triage → Reviewer
completed；pending=false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1D87750A-1FA8-4195-B8A9-A88D8701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846 passed / 17 skipped</a:t>
            </a:r>
            <a:r>
              <a:rPr sz="14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
7/7 Skill 静态 100/100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C1BE4CD5-5E8F-4740-B2F0-85FC1F7F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错路径 / 错身份 / 直连
分别被拒绝或阻断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5D0D1607-E4FA-4DB1-B86E-DC54024B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2 节点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575C1944-2E14-4338-9C3B-EBAADBA7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3 层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66D40990-290C-4C1C-87AA-FC5F5F27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84.40%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1B9FEF0A-C86C-4BEF-984A-98E1B311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3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现场证据 + 本地发布门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2026-07-27 AgentTeams v1.2.0-beta.1 现场；2026-07-28 DevFlow v1.3.0 本地门。数字分别对应项目状态、边界负例与本地质量。</a:t>
            </a:r>
          </a:p>
        </p:txBody>
      </p:sp>
    </p:spTree>
    <p:extLst>
      <p:ext uri="{BB962C8B-B14F-4D97-AF65-F5344CB8AC3E}">
        <p14:creationId xmlns:p14="http://schemas.microsoft.com/office/powerpoint/2010/main" val="69283827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527BAA89-A12C-471C-A696-7415FF9A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09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B4530DF2-D7E9-46E9-86C4-A8BAD38B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证据矩阵：把“现场”“测试”“待验证”明确分层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34B4AC3A-3634-479A-970B-C14026C3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3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证据纪律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每条能力只使用与其成熟度匹配的表述；真实集群、本地确定性演示与边界基准不得拼接成未发生的完整修复。</a:t>
            </a:r>
          </a:p>
        </p:txBody>
      </p:sp>
      <p:graphicFrame>
        <p:nvGraphicFramePr>
          <p:cNvPr id="10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1524000"/>
                <a:gridCol w="2762250"/>
                <a:gridCol w="3143250"/>
                <a:gridCol w="1879568"/>
              </a:tblGrid>
              <a:tr h="4369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38" b="1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能力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38" b="1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证据类型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38" b="1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正例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38" b="1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负例 / 恢复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38" b="1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对外口径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Bot 通信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现场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Leader→Triage→Leader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丢消息/流式回归已修复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真实消息链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项目状态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现场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T1/T2 completed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Matrix 通知自动重试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仅两节点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进程身份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现场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Leader 控制项目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冒充 Leader 被拒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非强 sandbox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GitHub scope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现场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固定 README 读取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换路径 403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单 repo/path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Higress 身份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现场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Locator 放行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Reviewer 403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只读入口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网络路径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现场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仅经网关成功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直连 Broker 阻断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网关专属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Skill 质量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发布门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7 项静态 100/100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验证器可 python -S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非 7 项行为分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24 项基准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固定 revision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24/24 精确决策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6/6 安全决策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非修复率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234989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BF2850BB-9091-4459-A14C-A6DEB80D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962A78B5-890C-4A75-B0CA-C837222E5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官方评分不是堆工具：五项权重围绕闭环证据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D3D6B05E-3683-448C-B3F7-31ECB91E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75%｜价值 + 协同 + Skill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场景 25%：真实问题与可复制价值。
协同 25%：身份、状态、异常与人工门。
Skill 25%：七项资产与复用边界。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A8685CB8-DE3E-4AE0-80AD-989C720A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5%｜开放 / 开源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Apache-2.0、接口契约、README、复现实例与贡献说明。公开仓库、最终 tag 与提交包一致性仍需提交人终检。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A49DAFF7-5BFC-4AA3-AFDA-EF112503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20%｜工程、安全、审计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可运行材料；日志、Trace、Metrics。
MCP、RAG 与观测链可验证。
密钥、审批、回滚、降级、审计不缺位。</a:t>
            </a:r>
          </a:p>
        </p:txBody>
      </p:sp>
    </p:spTree>
    <p:extLst>
      <p:ext uri="{BB962C8B-B14F-4D97-AF65-F5344CB8AC3E}">
        <p14:creationId xmlns:p14="http://schemas.microsoft.com/office/powerpoint/2010/main" val="505011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743353CB-8F47-43AD-9478-4A9645D2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11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4033D170-86AA-41D4-A576-6E363D41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距离“夺冠作品”还差三条现场闭环</a:t>
            </a:r>
          </a:p>
        </p:txBody>
      </p:sp>
      <p:cxnSp>
        <p:nvCxnSpPr>
          <p:cNvPr id="30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5DFFEE9B-B68A-441D-9214-80BB679D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25D272BB-3389-479E-B5B0-99AB40B8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DC34FEE9-42D8-4C7B-973A-BBA7EBDC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74F663ED-83C3-44C6-83C5-1728AF99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P0 · 六阶段修复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E0151F00-47E0-479F-9D94-8AA00B86B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P0 · 失败回传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9D1DD4CF-E500-4471-BE93-8A836145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P0 · T4 人工门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70E22A33-0A92-4DC8-85B2-D053E34D1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红测必须回 Coder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Tester 生成脱敏有界证据；Leader 校验后转 Coder，不得改写红测结论。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194237D5-A275-4783-8E33-1CA6E98A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同一项目跑完整链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Triage→定位→修复→测试→审查→经验沉淀；保留原始失败、补丁、绿测与 canonical 未改证据。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4FCC2ED9-941C-4C93-9A0A-9EBD29D2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4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先拒绝，再签名恢复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>
                <a:solidFill>
                  <a:srgbClr val="262626"/>
                </a:solidFill>
                <a:latin typeface="Noto Sans SC"/>
                <a:ea typeface="Noto Sans SC"/>
                <a:cs typeface="Noto Sans SC"/>
              </a:rPr>
              <a:t>paused→未批准恢复失败→精确摘要签名→resume+审计。完成后再录正式视频并冻结最终覆盖率。</a:t>
            </a:r>
          </a:p>
        </p:txBody>
      </p:sp>
    </p:spTree>
    <p:extLst>
      <p:ext uri="{BB962C8B-B14F-4D97-AF65-F5344CB8AC3E}">
        <p14:creationId xmlns:p14="http://schemas.microsoft.com/office/powerpoint/2010/main" val="37302207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F93A0D54-31A3-46C6-960A-F61D6B041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把协作变成证据
把权限变成边界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16D28BD9-8FF5-4339-AD4D-6984D69B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18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已验证｜六角色部署 / 两节点闭环</a:t>
            </a:r>
          </a:p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18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已验证｜GitHub 三层负例 / 摘要回执</a:t>
            </a:r>
          </a:p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待现场｜六阶段 / 红测闭环 / T4 真人恢复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A751EF8D-C5CB-4943-A460-19EFF6AD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Noto Sans SC"/>
                <a:ea typeface="Noto Sans SC"/>
                <a:cs typeface="Noto Sans SC"/>
              </a:rPr>
              <a:t>DEVFLOW · PRELIM</a:t>
            </a:r>
          </a:p>
        </p:txBody>
      </p:sp>
    </p:spTree>
    <p:extLst>
      <p:ext uri="{BB962C8B-B14F-4D97-AF65-F5344CB8AC3E}">
        <p14:creationId xmlns:p14="http://schemas.microsoft.com/office/powerpoint/2010/main" val="6301871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2026-07-28T11:09:51.7710000Z</dcterms:created>
  <dcterms:modified xsi:type="dcterms:W3CDTF">2026-07-28T11:09:51.7710000Z</dcterms:modified>
</coreProperties>
</file>