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5bf7078bf94fbe" /><Relationship Type="http://schemas.openxmlformats.org/officeDocument/2006/relationships/extended-properties" Target="/docProps/app.xml" Id="R6905f7bcf22646a7" /><Relationship Type="http://schemas.openxmlformats.org/officeDocument/2006/relationships/officeDocument" Target="/ppt/presentation.xml" Id="Rc1f8e467280041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e971234df44637"/>
  </p:sldMasterIdLst>
  <p:notesMasterIdLst>
    <p:notesMasterId xmlns:r="http://schemas.openxmlformats.org/officeDocument/2006/relationships" r:id="R2a3de3b80dea4597"/>
  </p:notesMasterIdLst>
  <p:sldIdLst>
    <p:sldId xmlns:r="http://schemas.openxmlformats.org/officeDocument/2006/relationships" id="256" r:id="R3d4497c4cf2d4be7"/>
    <p:sldId xmlns:r="http://schemas.openxmlformats.org/officeDocument/2006/relationships" id="257" r:id="R05d699e618b74331"/>
    <p:sldId xmlns:r="http://schemas.openxmlformats.org/officeDocument/2006/relationships" id="258" r:id="Rbda752b430594c1f"/>
    <p:sldId xmlns:r="http://schemas.openxmlformats.org/officeDocument/2006/relationships" id="259" r:id="R9c7d14679d3a4fee"/>
    <p:sldId xmlns:r="http://schemas.openxmlformats.org/officeDocument/2006/relationships" id="260" r:id="Rafd87888b3584b7a"/>
    <p:sldId xmlns:r="http://schemas.openxmlformats.org/officeDocument/2006/relationships" id="261" r:id="R97169a5c359f4bba"/>
    <p:sldId xmlns:r="http://schemas.openxmlformats.org/officeDocument/2006/relationships" id="262" r:id="R4b16c19452f943e8"/>
    <p:sldId xmlns:r="http://schemas.openxmlformats.org/officeDocument/2006/relationships" id="263" r:id="R359591756ed045c1"/>
    <p:sldId xmlns:r="http://schemas.openxmlformats.org/officeDocument/2006/relationships" id="264" r:id="R34b3eb7a8c03490d"/>
    <p:sldId xmlns:r="http://schemas.openxmlformats.org/officeDocument/2006/relationships" id="265" r:id="R951838570ba346e3"/>
    <p:sldId xmlns:r="http://schemas.openxmlformats.org/officeDocument/2006/relationships" id="266" r:id="Rd5394e8799384ae3"/>
    <p:sldId xmlns:r="http://schemas.openxmlformats.org/officeDocument/2006/relationships" id="267" r:id="Rb0884517f3a24c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73e7cdc1124652" /><Relationship Type="http://schemas.openxmlformats.org/officeDocument/2006/relationships/slideMaster" Target="/ppt/slideMasters/slideMaster1.xml" Id="Race971234df44637" /><Relationship Type="http://schemas.openxmlformats.org/officeDocument/2006/relationships/notesMaster" Target="/ppt/notesMasters/notesMaster1.xml" Id="R2a3de3b80dea4597" /><Relationship Type="http://schemas.openxmlformats.org/officeDocument/2006/relationships/presProps" Target="/ppt/presProps.xml" Id="Re04c725e7850462b" /><Relationship Type="http://schemas.openxmlformats.org/officeDocument/2006/relationships/tableStyles" Target="/ppt/tableStyles.xml" Id="Rae33a2bc0bd54d0b" /><Relationship Type="http://schemas.openxmlformats.org/officeDocument/2006/relationships/slide" Target="/ppt/slides/slide1.xml" Id="R3d4497c4cf2d4be7" /><Relationship Type="http://schemas.openxmlformats.org/officeDocument/2006/relationships/slide" Target="/ppt/slides/slide2.xml" Id="R05d699e618b74331" /><Relationship Type="http://schemas.openxmlformats.org/officeDocument/2006/relationships/slide" Target="/ppt/slides/slide3.xml" Id="Rbda752b430594c1f" /><Relationship Type="http://schemas.openxmlformats.org/officeDocument/2006/relationships/slide" Target="/ppt/slides/slide4.xml" Id="R9c7d14679d3a4fee" /><Relationship Type="http://schemas.openxmlformats.org/officeDocument/2006/relationships/slide" Target="/ppt/slides/slide5.xml" Id="Rafd87888b3584b7a" /><Relationship Type="http://schemas.openxmlformats.org/officeDocument/2006/relationships/slide" Target="/ppt/slides/slide6.xml" Id="R97169a5c359f4bba" /><Relationship Type="http://schemas.openxmlformats.org/officeDocument/2006/relationships/slide" Target="/ppt/slides/slide7.xml" Id="R4b16c19452f943e8" /><Relationship Type="http://schemas.openxmlformats.org/officeDocument/2006/relationships/slide" Target="/ppt/slides/slide8.xml" Id="R359591756ed045c1" /><Relationship Type="http://schemas.openxmlformats.org/officeDocument/2006/relationships/slide" Target="/ppt/slides/slide9.xml" Id="R34b3eb7a8c03490d" /><Relationship Type="http://schemas.openxmlformats.org/officeDocument/2006/relationships/slide" Target="/ppt/slides/slide10.xml" Id="R951838570ba346e3" /><Relationship Type="http://schemas.openxmlformats.org/officeDocument/2006/relationships/slide" Target="/ppt/slides/slide11.xml" Id="Rd5394e8799384ae3" /><Relationship Type="http://schemas.openxmlformats.org/officeDocument/2006/relationships/slide" Target="/ppt/slides/slide12.xml" Id="Rb0884517f3a24c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a0a644a99f45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e978f5f2654e1a" /><Relationship Type="http://schemas.openxmlformats.org/officeDocument/2006/relationships/notesMaster" Target="/ppt/notesMasters/notesMaster1.xml" Id="Rb22bb43e98a84f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7c4aacc3a74ef3" /><Relationship Type="http://schemas.openxmlformats.org/officeDocument/2006/relationships/notesMaster" Target="/ppt/notesMasters/notesMaster1.xml" Id="R359372c04f4444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65dd0db17f4a61" /><Relationship Type="http://schemas.openxmlformats.org/officeDocument/2006/relationships/notesMaster" Target="/ppt/notesMasters/notesMaster1.xml" Id="Rd7006cfbf81a49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0e0a4d106c4697" /><Relationship Type="http://schemas.openxmlformats.org/officeDocument/2006/relationships/notesMaster" Target="/ppt/notesMasters/notesMaster1.xml" Id="R4d7a642ef5d24c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40dc70790a4121" /><Relationship Type="http://schemas.openxmlformats.org/officeDocument/2006/relationships/notesMaster" Target="/ppt/notesMasters/notesMaster1.xml" Id="Re540bc7a4ee247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29c227fe61404d" /><Relationship Type="http://schemas.openxmlformats.org/officeDocument/2006/relationships/notesMaster" Target="/ppt/notesMasters/notesMaster1.xml" Id="R38828f48e9ee43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73fe727e974c4e" /><Relationship Type="http://schemas.openxmlformats.org/officeDocument/2006/relationships/notesMaster" Target="/ppt/notesMasters/notesMaster1.xml" Id="Ra99b7e7c888944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6260af0aad4dab" /><Relationship Type="http://schemas.openxmlformats.org/officeDocument/2006/relationships/notesMaster" Target="/ppt/notesMasters/notesMaster1.xml" Id="R696c2114faf24c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45b37433e1451f" /><Relationship Type="http://schemas.openxmlformats.org/officeDocument/2006/relationships/notesMaster" Target="/ppt/notesMasters/notesMaster1.xml" Id="R933afa27b58b41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c8e1cfed9e409c" /><Relationship Type="http://schemas.openxmlformats.org/officeDocument/2006/relationships/notesMaster" Target="/ppt/notesMasters/notesMaster1.xml" Id="R3382d03bc08b41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3f895211b94f2d" /><Relationship Type="http://schemas.openxmlformats.org/officeDocument/2006/relationships/notesMaster" Target="/ppt/notesMasters/notesMaster1.xml" Id="Rbab89699fa864d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c62c296faf46f3" /><Relationship Type="http://schemas.openxmlformats.org/officeDocument/2006/relationships/notesMaster" Target="/ppt/notesMasters/notesMaster1.xml" Id="R9add855e90f34d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开场：DevFlow 不以‘生成更多代码’为卖点，而是让多 Agent 研发协作可追责、可暂停、可复验。决赛版的核心是边界与证据。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https://www.goaihz.com/tracks?track=infra（Agent Infra 官方赛道页，访问 2026-07-28）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docs/finals/ACCEPTANCE_MATRIX_CN.md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问题：多 Agent 失败通常不是模型不会，而是责任漂移、证据丢失、权限越界。三个数字分别是 6 个自主 Agent、7 个可发布 Skill、3 个仓库各 7 个已冻结任务；任务尚未执行，所以不报解决率。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benchmarks/repository_repair/tasks.yaml</a:t>
            </a:r>
          </a:p>
          <a:p xmlns:a="http://schemas.openxmlformats.org/drawingml/2006/main">
            <a:r>
              <a:t>- docs/BENCHMARK.md</a:t>
            </a:r>
          </a:p>
          <a:p xmlns:a="http://schemas.openxmlformats.org/drawingml/2006/main">
            <a:r>
              <a:t>- docs/finals/ACCEPTANCE_MATRIX_CN.md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Human Authority 不是第七个 Agent。所有 Worker 结果只回 Leader，避免点对点通信导致状态分叉；审批主体只授予精确目标的一次性授权。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config/agents.yaml</a:t>
            </a:r>
          </a:p>
          <a:p xmlns:a="http://schemas.openxmlformats.org/drawingml/2006/main">
            <a:r>
              <a:t>- agentteams/team.yaml</a:t>
            </a:r>
          </a:p>
          <a:p xmlns:a="http://schemas.openxmlformats.org/drawingml/2006/main">
            <a:r>
              <a:t>- docs/BOUNDARIES_AND_MCP.md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三层门：运行时身份决定‘是谁’，父子路由和摘要决定‘拿到什么’，Skill/MCP/scope/状态/批准的交集决定‘能做什么’。聊天内容本身不产生权限。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src/devflow/collaboration/ledger.py</a:t>
            </a:r>
          </a:p>
          <a:p xmlns:a="http://schemas.openxmlformats.org/drawingml/2006/main">
            <a:r>
              <a:t>- src/devflow/skills/contracts.py</a:t>
            </a:r>
          </a:p>
          <a:p xmlns:a="http://schemas.openxmlformats.org/drawingml/2006/main">
            <a:r>
              <a:t>- docs/BOUNDARIES_AND_MCP.md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这一页逐字对应官方五项核验：角色编排与任务拆解落在 Manager–Team–Worker 和 assignment；上下文传递与协同执行落在 Team Room、Worker Room、Handoff 与 Skill；状态追踪落在 taskflow、readback、retry 和 PAUSED。ready/SUCCESS 与 retry/blocked/FAILED 仍由 guard 强校验。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https://www.goaihz.com/tracks?track=infra（AgentTeams 五项映射要求，访问 2026-07-28）</a:t>
            </a:r>
          </a:p>
          <a:p xmlns:a="http://schemas.openxmlformats.org/drawingml/2006/main">
            <a:r>
              <a:t>- docs/submission/AGENTTEAMS_MAPPING_CN.md</a:t>
            </a:r>
          </a:p>
          <a:p xmlns:a="http://schemas.openxmlformats.org/drawingml/2006/main">
            <a:r>
              <a:t>- agentteams/teamharness/guarded_server.py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 不靠提示词保护。Leader、Locator、Higress、Broker、GitHub API 每层都校验不同边界；错路径、错租户、错身份、直连、过期与重放都 fail closed。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config/mcp_servers.yaml</a:t>
            </a:r>
          </a:p>
          <a:p xmlns:a="http://schemas.openxmlformats.org/drawingml/2006/main">
            <a:r>
              <a:t>- agentteams/teamharness/guarded_server.py</a:t>
            </a:r>
          </a:p>
          <a:p xmlns:a="http://schemas.openxmlformats.org/drawingml/2006/main">
            <a:r>
              <a:t>- tests/test_teamharness_github_capability.py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 Skill 是版本化资产：合同、触发/拒绝条件、依赖失败、安全边界、正反例与独立验证器齐全。测试证据要签名，经验只从 VERIFIED 终态进入。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skills/</a:t>
            </a:r>
          </a:p>
          <a:p xmlns:a="http://schemas.openxmlformats.org/drawingml/2006/main">
            <a:r>
              <a:t>- evals/skill_behavior/cases.yaml</a:t>
            </a:r>
          </a:p>
          <a:p xmlns:a="http://schemas.openxmlformats.org/drawingml/2006/main">
            <a:r>
              <a:t>- src/devflow/skills/catalog.py</a:t>
            </a:r>
          </a:p>
          <a:p xmlns:a="http://schemas.openxmlformats.org/drawingml/2006/main">
            <a:r>
              <a:t>- tests/test_skill_validator_standalone.py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这是本地确定性 Demo 的真实运行口径：六个阶段路由全部注册、租约与封存；18 条审计事件形成可重算哈希链；7 个 Skill 独立验证器通过。它不替代真实集群证据。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src/devflow/demo.py</a:t>
            </a:r>
          </a:p>
          <a:p xmlns:a="http://schemas.openxmlformats.org/drawingml/2006/main">
            <a:r>
              <a:t>- src/devflow/collaboration/ledger.py</a:t>
            </a:r>
          </a:p>
          <a:p xmlns:a="http://schemas.openxmlformats.org/drawingml/2006/main">
            <a:r>
              <a:t>- tests/test_demo.py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证据必须分层。真实 AgentTeams 两节点与 GitHub 边界、本地六阶段/T4/RAG 集成、以及仅建立清单的仓库任务不能拼成一个未发生的‘生产闭环’。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docs/evidence/AGENTTEAMS_LIVE_20260727.md</a:t>
            </a:r>
          </a:p>
          <a:p xmlns:a="http://schemas.openxmlformats.org/drawingml/2006/main">
            <a:r>
              <a:t>- docs/finals/ACCEPTANCE_MATRIX_CN.md</a:t>
            </a:r>
          </a:p>
          <a:p xmlns:a="http://schemas.openxmlformats.org/drawingml/2006/main">
            <a:r>
              <a:t>- docs/evidence/REPOSITORY_REPAIR_BASELINE.md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这是截至 2026-07-28 唯一公开可核验的评分权重。MCP、RAG、可观测推荐但不按数量计分；AgentTeams 与 Skill 是硬基线。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https://www.goaihz.com/tracks?track=infra（访问 2026-07-28）</a:t>
            </a:r>
          </a:p>
          <a:p xmlns:a="http://schemas.openxmlformats.org/drawingml/2006/main">
            <a:r>
              <a:t>- https://www.goaihz.com/faq（访问 2026-07-28）</a:t>
            </a:r>
          </a:p>
          <a:p xmlns:a="http://schemas.openxmlformats.org/drawingml/2006/main">
            <a:r>
              <a:t>- docs/finals/ACCEPTANCE_MATRIX_CN.md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现场脚本只演三条链：成功、失败、高风险。每条都展示原始状态、失败或拒绝、以及可重算证据；若网络不可用，切换本地隔离 Demo 与已冻结的真实现场证据包。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docs/finals/DEMO_SCRIPT_CN.md</a:t>
            </a:r>
          </a:p>
          <a:p xmlns:a="http://schemas.openxmlformats.org/drawingml/2006/main">
            <a:r>
              <a:t>- tests/test_agent_failure_recovery.py</a:t>
            </a:r>
          </a:p>
          <a:p xmlns:a="http://schemas.openxmlformats.org/drawingml/2006/main">
            <a:r>
              <a:t>- tests/test_human_approval.py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收束：已经验证什么、在哪里验证、还欠什么，全部明确。服务器指纹核验后补录集群六阶段、红测恢复、T4 真人批准和 3 仓真实基准，再冻结最终 tag 与交付哈希。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docs/finals/ACCEPTANCE_MATRIX_CN.md</a:t>
            </a:r>
          </a:p>
          <a:p xmlns:a="http://schemas.openxmlformats.org/drawingml/2006/main">
            <a:r>
              <a:t>- docs/evidence/AGENTTEAMS_LIVE_20260727.md</a:t>
            </a:r>
          </a:p>
          <a:p xmlns:a="http://schemas.openxmlformats.org/drawingml/2006/main">
            <a:r>
              <a:t>- docs/BENCHMARK.md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abedbf53e46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9ee62e40934dec" /><Relationship Type="http://schemas.openxmlformats.org/officeDocument/2006/relationships/slideLayout" Target="/ppt/slideLayouts/slideLayout1.xml" Id="R7735f3aa6bdf46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35f3aa6bdf46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0dc2e263849c1" /><Relationship Type="http://schemas.openxmlformats.org/officeDocument/2006/relationships/notesSlide" Target="/ppt/notesSlides/notesSlide1.xml" Id="R1964c73231f843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96459f3054938" /><Relationship Type="http://schemas.openxmlformats.org/officeDocument/2006/relationships/notesSlide" Target="/ppt/notesSlides/notesSlide2.xml" Id="R577af18a357241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6ea8dba65457d" /><Relationship Type="http://schemas.openxmlformats.org/officeDocument/2006/relationships/notesSlide" Target="/ppt/notesSlides/notesSlide3.xml" Id="Rc43f8ea6dd3141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1335e3de94cfb" /><Relationship Type="http://schemas.openxmlformats.org/officeDocument/2006/relationships/notesSlide" Target="/ppt/notesSlides/notesSlide4.xml" Id="R0e7f6c74089a49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1fa8161914a10" /><Relationship Type="http://schemas.openxmlformats.org/officeDocument/2006/relationships/notesSlide" Target="/ppt/notesSlides/notesSlide5.xml" Id="Re0d3c77527a044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294802e4a4cb7" /><Relationship Type="http://schemas.openxmlformats.org/officeDocument/2006/relationships/notesSlide" Target="/ppt/notesSlides/notesSlide6.xml" Id="Ra259b51c820f41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a758626d8419b" /><Relationship Type="http://schemas.openxmlformats.org/officeDocument/2006/relationships/notesSlide" Target="/ppt/notesSlides/notesSlide7.xml" Id="Rf9877f6fa3d543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97bbb53474c51" /><Relationship Type="http://schemas.openxmlformats.org/officeDocument/2006/relationships/notesSlide" Target="/ppt/notesSlides/notesSlide8.xml" Id="R328f2db8187246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674fac86c474b" /><Relationship Type="http://schemas.openxmlformats.org/officeDocument/2006/relationships/notesSlide" Target="/ppt/notesSlides/notesSlide9.xml" Id="Re383893bb78a46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e764bf5654617" /><Relationship Type="http://schemas.openxmlformats.org/officeDocument/2006/relationships/notesSlide" Target="/ppt/notesSlides/notesSlide10.xml" Id="R98380e34fcb54e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868d6d63e44c5" /><Relationship Type="http://schemas.openxmlformats.org/officeDocument/2006/relationships/notesSlide" Target="/ppt/notesSlides/notesSlide11.xml" Id="Re951768569a742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7228aa06947e9" /><Relationship Type="http://schemas.openxmlformats.org/officeDocument/2006/relationships/notesSlide" Target="/ppt/notesSlides/notesSlide12.xml" Id="Rdcbe280288dd4b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7977AB1-D46D-4426-A545-F7AC4D5C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DevFlow
</a:t>
            </a:r>
            <a:r>
              <a:rPr sz="4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可审计的多 Agent 研发闭环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ECD7AC4-D147-4350-8393-4C4DF5D5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AgentTeams 基点｜职责有界｜交接可验｜风险暂停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924D992-FE5A-4C85-94BE-EB4FAC9D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GOAI 2026 · AGENT INFRA · FINALS</a:t>
            </a:r>
          </a:p>
        </p:txBody>
      </p:sp>
    </p:spTree>
    <p:extLst>
      <p:ext uri="{BB962C8B-B14F-4D97-AF65-F5344CB8AC3E}">
        <p14:creationId xmlns:p14="http://schemas.microsoft.com/office/powerpoint/2010/main" val="17063096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CD2D93B-6880-4CB2-9699-9996D035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5F8946F-6153-4730-BE47-4A92E42B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431E771-D68B-42EC-AB6C-E5AEA27B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97FA948-CBAC-49F5-9D21-39B28FD8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1CA03489-10D0-4BBB-852C-FECEA05F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研发自动化的难点不是“会写代码”，而是协作结果可信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1353950-576E-41A0-AF96-CACB3B6D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自主角色</a:t>
            </a: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职责不漂移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00DEB2C-5701-4F66-A7A4-99E88BF6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固定仓库任务</a:t>
            </a:r>
            <a:b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</a:b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当前不虚报成功率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550AD96-226B-4383-BAB7-2FBA60E3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可复用 Skill
</a:t>
            </a: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契约与验证器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242F37B-F9EA-42CC-92AD-39CE18A8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5920F6D-D990-4907-A31F-7D29990C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ABA27E8-97CF-4B3A-9F9E-70580421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3×7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551982D-0C8C-494E-B2EA-F27EFFCF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场景与价值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同一 Issue 需要分类、定位、修改、测试、审查与经验沉淀。DevFlow 不把身份、证据和权限藏在聊天里，而把每次协作收敛为可验证合同；3 个固定版本仓库各 7 个任务已建清单，尚未执行就不报告成功率。</a:t>
            </a:r>
          </a:p>
        </p:txBody>
      </p:sp>
    </p:spTree>
    <p:extLst>
      <p:ext uri="{BB962C8B-B14F-4D97-AF65-F5344CB8AC3E}">
        <p14:creationId xmlns:p14="http://schemas.microsoft.com/office/powerpoint/2010/main" val="3825766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D9753F6-4DE8-4497-AE50-AA645A7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162844B-FC88-4DA6-B58C-3C35B019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六个自主角色，一个外部授权主体：责任不重叠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03B51AE8-809A-4456-A850-68887B6B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Tester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隔离副本跑预注册 CI，签名测试证据；不改 canonical。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0E890EA1-F710-48E9-A22E-0D8FAF4F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Reviewer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只给 ready/retry/blocked；不合并、不部署、不直达 Coder。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FA2655AF-6787-4FE5-88D8-A7F22E2B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Human Authority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外部授权主体；只对精确 T4/T5 目标签名，不是 Agent。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69DCB1F7-7EF8-45E6-8358-57AC7B1C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冲突优先级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安全 &gt; 外部批准 &gt; 签名测试 &gt; 审查 &gt; Coder 自检。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5A670AB-94BE-4071-9167-794FF8DB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TeamLeader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拆任务、签发有界路由、仲裁恢复；唯一分派/验收出口。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CB9D4658-7A41-4F94-8C80-5CF5D139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Triage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只做分类；不读写仓库，结构化结果回 Leader。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CF48A09A-D6B1-4F8A-A40D-DFBE3447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Locator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固定四元 scope 只读；不修改、不执行、不扩权。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2908D25A-75E8-496A-909E-58682788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Coder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只产最小补丁；不测试、不推送，结果回 Leader。</a:t>
            </a:r>
          </a:p>
        </p:txBody>
      </p:sp>
    </p:spTree>
    <p:extLst>
      <p:ext uri="{BB962C8B-B14F-4D97-AF65-F5344CB8AC3E}">
        <p14:creationId xmlns:p14="http://schemas.microsoft.com/office/powerpoint/2010/main" val="1146603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26A0C1A-A835-4A74-B0F0-B7AB326F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67149DA-ACC6-477F-9A60-CC06D3FC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身份、交接、权限三层同时成立</a:t>
            </a:r>
            <a:b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</a:b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任务才可以执行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EAC34C3-7AB7-42B7-9AA1-4B093D55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01｜我是谁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进程身份 + Worker + Skill owner。</a:t>
            </a:r>
            <a:br>
              <a:rPr sz="1425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</a:br>
            <a:r>
              <a:rPr sz="1425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提示词不能升级身份或权限。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FCAF8DA6-2E3F-46C2-BDDE-EFF010A4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03｜我能做什么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身份 ∩ Skill ∩ MCP ∩ scope ∩ 状态 ∩ 外部批准；未知、错配或过期即拒绝。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9F359CCA-F5BC-4F79-8190-03F94FFE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02｜我拿到什么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Handoff 绑定 parent route/status、双方身份、Skill、payload digest、trace 与幂等键。</a:t>
            </a:r>
          </a:p>
        </p:txBody>
      </p:sp>
    </p:spTree>
    <p:extLst>
      <p:ext uri="{BB962C8B-B14F-4D97-AF65-F5344CB8AC3E}">
        <p14:creationId xmlns:p14="http://schemas.microsoft.com/office/powerpoint/2010/main" val="16869844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BC5D3C6-E54B-4BFF-A59A-D358105F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0818C4A-63A5-4A09-BC1C-92C20525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AgentTeams 五项硬映射：从框架对象到协作语义</a:t>
            </a:r>
          </a:p>
        </p:txBody>
      </p:sp>
      <p:cxnSp>
        <p:nvCxnSpPr>
          <p:cNvPr id="33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472A5B8-E7DF-4C2E-867E-158F9FF5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E82C51D-57CA-4476-B805-4AB90DC8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460C321-EF94-4A35-9F0C-80DE273A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E9CA147-DDD6-439D-9FCA-33FE98DD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01 角色 / 02 拆解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1FCDFE2-B582-43D2-ABFE-0763254F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03 上下文 / 04 执行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5D7A9E8-E6D8-46A8-823F-9D45FBE4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05 状态追踪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7BEC2F5-C608-4AFA-99CD-B69D073C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上下文传递｜协同执行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Team Room 共享状态，Worker Room 保持最小上下文；Handoff 验证后调用所属 Skill。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E76C19B-03CD-47FD-A4B2-3E7E44A6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角色编排｜任务拆解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Manager 建 Team；Leader 拆 DAG 并定向 assignment；Worker 只 ACK 自己的任务。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EEEA36A-29B1-42F5-A27C-1E213B39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状态追踪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taskflow 跟踪 ACK、结果、验收与读回；失败 retry，高风险 PAUSED。</a:t>
            </a:r>
          </a:p>
        </p:txBody>
      </p:sp>
    </p:spTree>
    <p:extLst>
      <p:ext uri="{BB962C8B-B14F-4D97-AF65-F5344CB8AC3E}">
        <p14:creationId xmlns:p14="http://schemas.microsoft.com/office/powerpoint/2010/main" val="7820420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6AFBF58-232D-4902-BE70-A886B212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6E54F2A-7347-4873-898A-DB909348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MCP 权限不是提示词：每次读取穿过五道边界</a:t>
            </a:r>
          </a:p>
        </p:txBody>
      </p:sp>
      <p:graphicFrame>
        <p:nvGraphicFramePr>
          <p:cNvPr id="20" name="Google-Shape-953-p80-4"/>
          <p:cNvGraphicFramePr/>
          <p:nvPr/>
        </p:nvGraphicFramePr>
        <p:xfrm>
          <a:off xmlns:a="http://schemas.openxmlformats.org/drawingml/2006/main" x="393668" y="1379887"/>
          <a:ext xmlns:a="http://schemas.openxmlformats.org/drawingml/2006/main" cx="11404664" cy="461448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52"/>
                <a:gridCol w="2280952"/>
                <a:gridCol w="2280952"/>
                <a:gridCol w="2280952"/>
                <a:gridCol w="2280952"/>
              </a:tblGrid>
              <a:tr h="4614482">
                <a:tc>
                  <a:txBody>
                    <a:bodyPr/>
                    <a:lstStyle/>
                    <a:p>
                      <a:r>
                        <a:t>任务上下文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短期能力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Higress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Scope Broker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GitHub API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E0536D66-DBC7-4F2D-B9E2-C042703F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F490E13A-7847-495E-8CB1-6DA8A4FD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Broker：复核 token、Agent/Skill 与精确 scope</a:t>
            </a:r>
          </a:p>
        </p:txBody>
      </p:sp>
      <p:sp>
        <p:nvSpPr>
          <p:cNvPr id="6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8CD5EEB9-0968-49AE-AC72-4CA19EA6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D06D96BA-5D90-4780-A9AE-1EA5280A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默认拒绝：错路径｜错租户｜错身份｜直连｜过期或重放</a:t>
            </a:r>
          </a:p>
        </p:txBody>
      </p:sp>
      <p:sp>
        <p:nvSpPr>
          <p:cNvPr id="8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3FD3D03B-7904-4BB9-BA6B-4D39FCFE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405ABF8D-7389-4E3D-935B-A33BDEBA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回执：task/request + Git object + content digest</a:t>
            </a:r>
          </a:p>
        </p:txBody>
      </p:sp>
      <p:sp>
        <p:nvSpPr>
          <p:cNvPr id="10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096A0BDC-AFFB-4BE4-AA4F-36D0E61B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1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08A94ABB-CE32-4B79-8ED3-072784D9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Higress：Consumer=Locator；身份错配 FAIL_CLOSE</a:t>
            </a:r>
          </a:p>
        </p:txBody>
      </p:sp>
      <p:sp>
        <p:nvSpPr>
          <p:cNvPr id="12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DDF743E4-F130-4846-B540-3B2A0535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D4649ED6-A409-4ABD-838F-4705C1BE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Locator：仅 github-evidence；只读、不可扩大 scope</a:t>
            </a:r>
          </a:p>
        </p:txBody>
      </p:sp>
      <p:sp>
        <p:nvSpPr>
          <p:cNvPr id="14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8814C14B-0288-4B72-93C8-010B3D7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5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F42A855F-68BA-49E6-B29B-ECE9E4E1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Leader：签发 tenant / repo / revision / path</a:t>
            </a:r>
          </a:p>
        </p:txBody>
      </p:sp>
    </p:spTree>
    <p:extLst>
      <p:ext uri="{BB962C8B-B14F-4D97-AF65-F5344CB8AC3E}">
        <p14:creationId xmlns:p14="http://schemas.microsoft.com/office/powerpoint/2010/main" val="19593539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3CB663D-6CD9-41DA-9E2B-A87EAFC7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1271C85-A550-495D-B2C7-E8AF5204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七个 Skill 是可发布资产，不是七段提示词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12FB0EC-674B-44BF-878E-C0A755F1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test-runner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Tester｜隔离基线→候选；签名 attestation → TestEvidence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B3B7848D-2A3A-4515-8A01-F9EA060A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pr-reviewer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Reviewer｜ready / retry / blocked；T4/T5 只能 blocked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D790A5CC-2B68-4DFE-AA05-54912F43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experience-distiller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Reviewer｜只消费 VERIFIED 终态证据；无终态不沉淀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0FF75768-6743-4067-84E7-AA7E7E26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统一质量门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7/7 静态 100/100；14 组行为案例结构门；每个 Skill 可独立校验与回滚。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81AACD0-50BB-4069-9F12-126475E2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issue-classifier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Triage｜分级、去重、优先级 → ClassifiedIssue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0EB271C2-CA0B-4049-B586-200124DC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code-root-cause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Locator｜固定 revision 根因与影响面 → LocatedContext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7A579CC1-DB85-45C1-A9CB-58143899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github-evidence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Locator｜固定 tenant / repo / revision / path 的只读证据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6108238F-2377-45F1-A5B8-DE8A5FE6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patch-generator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Coder｜最小候选修复 → PatchCandidate</a:t>
            </a:r>
          </a:p>
        </p:txBody>
      </p:sp>
    </p:spTree>
    <p:extLst>
      <p:ext uri="{BB962C8B-B14F-4D97-AF65-F5344CB8AC3E}">
        <p14:creationId xmlns:p14="http://schemas.microsoft.com/office/powerpoint/2010/main" val="16515866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C50C5669-56D6-491D-BA83-5757F2A4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CDD38278-FBEC-4465-9C82-FC256999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BB10D92-F0D3-4294-9EEE-01B1508F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50D6DA4-B791-44A0-AF54-CA6D864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C095FB3D-BCAF-4F1E-B123-6D7BB6AC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离线 Demo 不是预制 JSON：六阶段、真实测试、持久审计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0753CAB-BB6A-49DB-96B6-16D033B4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阶段路由</a:t>
            </a:r>
            <a:b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</a:b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注册→租约→封存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D87750A-1FA8-4195-B8A9-A88D8701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Skill 包</a:t>
            </a:r>
            <a:b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</a:b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独立验证器全部通过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1BE4CD5-5E8F-4740-B2F0-85FC1F7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审计事件</a:t>
            </a:r>
            <a:b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</a:b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哈希链可离线重算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D0D1607-E4FA-4DB1-B86E-DC54024B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6/6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75C1944-2E14-4338-9C3B-EBAADBA7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6D40990-290C-4C1C-87AA-FC5F5F27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7/7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B9FEF0A-C86C-4BEF-984A-98E1B311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本地确定性证据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同一 task 走六个阶段路由：隔离 CI、SQLite 路由账本、跨进程租约、哈希审计链均真实执行。它只证明本地状态机与边界可复跑；不冒充集群现场或仓库修复成功率。</a:t>
            </a:r>
          </a:p>
        </p:txBody>
      </p:sp>
    </p:spTree>
    <p:extLst>
      <p:ext uri="{BB962C8B-B14F-4D97-AF65-F5344CB8AC3E}">
        <p14:creationId xmlns:p14="http://schemas.microsoft.com/office/powerpoint/2010/main" val="6928382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27BAA89-A12C-471C-A696-7415FF9A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4530DF2-D7E9-46E9-86C4-A8BAD38B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证据矩阵：能力、失败与诚实口径逐项对齐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4B4AC3A-3634-479A-970B-C14026C3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证据纪律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真实现场、本地集成与清单验证分别陈列。尚未发生的集群六阶段、真人批准恢复与仓库修复，不用拼接证据代替。</a:t>
            </a:r>
          </a:p>
        </p:txBody>
      </p:sp>
      <p:graphicFrame>
        <p:nvGraphicFramePr>
          <p:cNvPr id="10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524000"/>
                <a:gridCol w="2762250"/>
                <a:gridCol w="3143250"/>
                <a:gridCol w="1879568"/>
              </a:tblGrid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能力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证据层级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成功证据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失败 / 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诚实口径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六阶段协作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本地实跑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6/6 路由封存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重复 / 冲突拒绝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非集群现场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路由权威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跨进程测试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SQLite 租约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过期租约恢复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外部副作用非恰一次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测试完整性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本地集成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基线→候选转绿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假 attestation 拒绝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非真实仓库基准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T4 审批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本地集成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精确签名后恢复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错签名 / 重放拒绝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集群恢复待录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AgentTeams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真实现场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T2 completed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无批准恢复拒绝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目前仅两节点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GitHub MCP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真实现场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 scope 读取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错路径 / 身份 / 直连拒绝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只读单范围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RAG 隔离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本地集成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tenant/repo/revision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篡改 / 跨租户拒绝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Chroma 现场待补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仓库基准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清单验证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 仓 × 7 任务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executed = 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不报成功率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3498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F2850BB-9091-4459-A14C-A6DEB80D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62A78B5-890C-4A75-B0CA-C837222E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官方评分的 95% 在价值、协同、Skill 与工程证据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3D6B05E-3683-448C-B3F7-31ECB91E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75%｜价值 + 协同 + Skill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场景25%：三仓固定任务与价值。</a:t>
            </a:r>
            <a:b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</a:b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协同25%：六角色、失败、人工门。</a:t>
            </a:r>
            <a:b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</a:b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Skill 25%：七项资产可验证、复用、回滚。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A8685CB8-DE3E-4AE0-80AD-989C720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5%｜开放 / 开源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Apache-2.0、README、部署与测试；固定 tag 和交付包用 SHA-256 对齐。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A49DAFF7-5BFC-4AA3-AFDA-EF112503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20%｜工程 / 安全 / 审计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可运行交付；Trace / Metrics / Log。</a:t>
            </a:r>
            <a:b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</a:b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MCP、RAG、凭据、回滚与审计可验证。</a:t>
            </a:r>
            <a:b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</a:b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配置存在不等于集成完成。</a:t>
            </a:r>
          </a:p>
        </p:txBody>
      </p:sp>
    </p:spTree>
    <p:extLst>
      <p:ext uri="{BB962C8B-B14F-4D97-AF65-F5344CB8AC3E}">
        <p14:creationId xmlns:p14="http://schemas.microsoft.com/office/powerpoint/2010/main" val="50501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43353CB-8F47-43AD-9478-4A9645D2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033D170-86AA-41D4-A576-6E363D41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决赛现场只演三条链：成功、失败、人工批准</a:t>
            </a:r>
          </a:p>
        </p:txBody>
      </p:sp>
      <p:cxnSp>
        <p:nvCxnSpPr>
          <p:cNvPr id="33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DFFEE9B-B68A-441D-9214-80BB679D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5D272BB-3389-479E-B5B0-99AB40B8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C34FEE9-42D8-4C7B-973A-BBA7EBDC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4F663ED-83C3-44C6-83C5-1728AF99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成功 · 六阶段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0151F00-47E0-479F-9D94-8AA00B86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失败 · 红测回传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D1DD4CF-E500-4471-BE93-8A836145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高风险 · T4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0E22A33-0A92-4DC8-85B2-D053E34D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红测只回 Coder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Tester 返回 FAILED + 红测证据；Leader 验证后只回 Coder，修复重试且不污染经验库。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94237D5-A275-4783-8E33-1CA6E98A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同一 task 完整闭环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分类→定位→修复→测试→审查→沉淀；展示 Team Room、6/6 路由、terminal bundle 与 audit head。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4FCC2ED9-941C-4C93-9A0A-9EBD29D2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先拒绝，再恢复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blocked→PAUSED；无批准恢复失败；外部精确签名一次消费后 resume，重放仍拒绝。</a:t>
            </a:r>
          </a:p>
        </p:txBody>
      </p:sp>
    </p:spTree>
    <p:extLst>
      <p:ext uri="{BB962C8B-B14F-4D97-AF65-F5344CB8AC3E}">
        <p14:creationId xmlns:p14="http://schemas.microsoft.com/office/powerpoint/2010/main" val="3730220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93A0D54-31A3-46C6-960A-F61D6B04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把协作变成证据
把权限变成边界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6D28BD9-8FF5-4339-AD4D-6984D69B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18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本地已验｜六阶段 / CI / 审计 / T4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18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现场已验｜两节点 / GitHub 只读边界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待补录｜集群闭环 / 真人批准 / 三仓基准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751EF8D-C5CB-4943-A460-19EFF6AD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DEVFLOW FINALS</a:t>
            </a:r>
          </a:p>
        </p:txBody>
      </p:sp>
    </p:spTree>
    <p:extLst>
      <p:ext uri="{BB962C8B-B14F-4D97-AF65-F5344CB8AC3E}">
        <p14:creationId xmlns:p14="http://schemas.microsoft.com/office/powerpoint/2010/main" val="630187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2026-07-29T05:10:06.1930000Z</dcterms:created>
  <dcterms:modified xsi:type="dcterms:W3CDTF">2026-07-29T05:10:06.1930000Z</dcterms:modified>
</coreProperties>
</file>